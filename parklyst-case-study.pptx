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60120"/>
            <a:ext cx="112471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CASE STUDY  ·  MARKETING MANAGEMENT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ParkLyst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 and financial feasibility plan for an AI-powered urban parking platform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39M TL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0" y="1828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2331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frameworks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0" y="1828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%70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35040" y="2331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869680" y="1828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yrs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869680" y="2331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63093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team project · Istanbul University · Portfolio edition curated by Emircan Görür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reachable at 28% of daily capacity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12471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11064240" cy="43891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point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4630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4,250 vehicles/month  (142/day)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92808"/>
            <a:ext cx="11064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385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capacity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0" y="193852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vehicles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68296"/>
            <a:ext cx="11064240" cy="43891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1401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at break-even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241401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 utilization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43784"/>
            <a:ext cx="11064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8950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at capacity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288950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1,200,000 TL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319272"/>
            <a:ext cx="11064240" cy="43891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6499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net profit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336499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10,320,000 TL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11064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404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384048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%70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70248"/>
            <a:ext cx="11064240" cy="43891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3159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431596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years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5166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implication: 28% utilization threshold gives significant downside buffer in early growth phase.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63093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team project · Istanbul University · Portfolio edition curated by Emircan Görür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CONCEPT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urban mobility solution, not just a parking space finder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12471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356616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184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89280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parking discovery, AI-powered navigation, mobile reservation and payment in one seamless flow.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0" y="1508760"/>
            <a:ext cx="356616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6184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WHOM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51960" y="189280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drivers in Istanbul — white-collar commuters, shoppers, and corporate fleets. Municipalities as institutional partners.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863840" y="1508760"/>
            <a:ext cx="356616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16184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001000" y="189280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feed live occupancy data. AI matches users to optimal spaces based on location, traffic, and usage history.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356616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101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358444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drivers lose time and fuel searching for parking. ParkLyst removes search friction, reduces carbon emissions, and eases congestion.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0" y="3200400"/>
            <a:ext cx="356616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33101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51960" y="358444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completed 2024. Software development began early 2025. Pilot launch December 2025. Multi-city rollout from 2026.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63093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team project · Istanbul University · Portfolio edition curated by Emircan Görür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FRAMEWORK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frameworks shaped the strategy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12471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08176"/>
            <a:ext cx="11064240" cy="53035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Analysis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1463040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economic, legal, social, and technological macro factors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75104"/>
            <a:ext cx="11064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2996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Porter's Five Forces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202996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competitive intensity, entry barriers, buyer and supplier power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542032"/>
            <a:ext cx="11064240" cy="53035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96896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Matrix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2596896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internal strengths and weaknesses vs. market opportunities and threats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11064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63824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Framework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3163824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the market and selected differentiated targeting across two user groups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675888"/>
            <a:ext cx="11064240" cy="53035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3075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 Marketing Mix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3730752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go-to-market covering Product, Price, Place, Promotion, People, Process, Physical Evidence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242816"/>
            <a:ext cx="11064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9768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Analysis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4297680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minimum vehicle throughput needed to cover all operating costs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809744"/>
            <a:ext cx="11064240" cy="53035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86460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Timeline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0" y="486460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development roadmap from feasibility study to multi-city commercial expansion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63093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team project · Istanbul University · Portfolio edition curated by Emircan Görür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targeting and comparative positioning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12471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5486400" cy="16459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Drivers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savings, fast parking discovery, mobile payment, loyalty rewards. Acquired via digital ads (Google, Instagram, LinkedIn), referral system, and first-use free parking promotion.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486400" cy="16459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645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/ Fleet Users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965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analytics, revenue optimization, employee transport management. Acquired via B2B field sales and institutional partnership proposals with municipalities.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3566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positioning vs. existing Turkish parking apps that only show available spaces. ParkLyst differentiates on AI personalization, dynamic pricing, eco-routing, and an end-to-end mobile experience — repositioning parking from a chore into a seamless urban service.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2519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65760" y="4480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TL / hour  ·  First 15 min free (acquisition tactic)  ·  Market-rate entry to build habit  ·  Above-market premium pricing in later phase  ·  Dynamic pricing layer for real-time demand optimization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63093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team project · Istanbul University · Portfolio edition curated by Emircan Görür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analysis and profit projection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12471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682496"/>
            <a:ext cx="5394960" cy="42062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190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fixed costs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0" y="17190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90,000 TL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39696"/>
            <a:ext cx="5394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762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variable costs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0" y="21762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 TL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5394960" cy="42062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334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costs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0" y="26334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340,000 TL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18211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3364992"/>
            <a:ext cx="5394960" cy="3657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0156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fee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0" y="340156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67328"/>
            <a:ext cx="5394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03904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session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0" y="380390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169664"/>
            <a:ext cx="5394960" cy="3657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20624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vehicle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0" y="420624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TL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572000"/>
            <a:ext cx="5394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60857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capacity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0" y="460857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vehicles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974336"/>
            <a:ext cx="5394960" cy="3657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501091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0" y="501091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1,200,000 TL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5376672"/>
            <a:ext cx="5394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541324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0" y="541324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14,400,000 TL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1463040"/>
            <a:ext cx="5303520" cy="822960"/>
          </a:xfrm>
          <a:prstGeom prst="rect">
            <a:avLst/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151790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4,250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263640" y="1938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vehicles/month to break even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2395728"/>
            <a:ext cx="530352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24505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263640" y="28712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vehicles/day (28% of capacity)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26480" y="3328416"/>
            <a:ext cx="530352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3383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10,320,000 TL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263640" y="38039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net profit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26480" y="4261104"/>
            <a:ext cx="530352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431596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%70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26364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26480" y="5193792"/>
            <a:ext cx="530352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52486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years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263640" y="5669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3093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team project · Istanbul University · Portfolio edition curated by Emircan Görür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PLAN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39,000,000 TL — majority allocated to technology infrastructure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12471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26464"/>
            <a:ext cx="11064240" cy="356616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infrastructure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0" y="1463040"/>
            <a:ext cx="3474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10,000,000 TL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19656"/>
            <a:ext cx="110642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web app development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0" y="1856232"/>
            <a:ext cx="3474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6,000,000 TL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212848"/>
            <a:ext cx="11064240" cy="356616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49424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promotion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0" y="2249424"/>
            <a:ext cx="3474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5,500,000 TL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110642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42616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systems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0" y="2642616"/>
            <a:ext cx="3474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4,000,000 TL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999232"/>
            <a:ext cx="11064240" cy="356616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35808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&amp; cloud infrastructure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0" y="3035808"/>
            <a:ext cx="3474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3,000,000 TL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392424"/>
            <a:ext cx="110642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29000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&amp; operations center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72400" y="3429000"/>
            <a:ext cx="3474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2,000,000 TL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785616"/>
            <a:ext cx="11064240" cy="356616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22192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first-year staff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72400" y="3822192"/>
            <a:ext cx="3474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2,000,000 TL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178808"/>
            <a:ext cx="1106424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15384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area renovation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0" y="4215384"/>
            <a:ext cx="3474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1,500,000 TL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572000"/>
            <a:ext cx="11064240" cy="356616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608576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&amp; storage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72400" y="4608576"/>
            <a:ext cx="3474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 TL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965192"/>
            <a:ext cx="11064240" cy="356616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001768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total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772400" y="5001768"/>
            <a:ext cx="3474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35,000,000 TL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5358384"/>
            <a:ext cx="11064240" cy="356616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394960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reserve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772400" y="5394960"/>
            <a:ext cx="3474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4,000,000 TL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5751576"/>
            <a:ext cx="11064240" cy="356616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5788152"/>
            <a:ext cx="7315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772400" y="5788152"/>
            <a:ext cx="34747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39,000,000 TL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576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Funding: founder equity · TÜBİTAK grants · KOSGEB incentives · İTO Teknopark support  |  Tax exemptions: VAT, income tax, employer SSI, customs, corporate tax (technopark status)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65760" y="63093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team project · Istanbul University · Portfolio edition curated by Emircan Görür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priorities to drive adoption and financial sustainability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12471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53896"/>
            <a:ext cx="1106424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accessibility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81965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fast, reliable parking access the core brand promise in all consumer communications.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96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404872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B2B early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720" y="27157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revenue from fleet and institutional clients stabilizes cash flow before consumer scale is reached.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1106424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924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300984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public incentives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36118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TÜBİTAK, KOSGEB, and İTO Teknopark programs materially reduce effective capital cost — apply early in the process.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142232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2885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419709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loyalty before scaling paid ads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450799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system and tiered rewards generate lower-cost users with higher retention than broad awareness spend.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5038344"/>
            <a:ext cx="1106424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184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509320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proof from influencer activity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8720" y="540410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niche automotive and urban-lifestyle creators; require measurable incremental outcomes before scaling creator budgets.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63093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team project · Istanbul University · Portfolio edition curated by Emircan Görür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INTERPRETATION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analysis — within clear limits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12471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limitations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Academic business plan — projected figures, not audited results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24942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live pilot data to validate demand assumptions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67004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Financial model built on modeled estimates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09067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Istanbul-specific; multi-city expansion dynamics not yet modeled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51129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Consumer behavior assumptions need real-world testing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1792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ethics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Academic team project — not sole authorship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224942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identifiers removed from portfolio edition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09360" y="267004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raw personal or survey data included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09360" y="309067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Findings preserved without fabrication or embellishment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4572000"/>
            <a:ext cx="112471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709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51760" y="4709160"/>
            <a:ext cx="8869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Planning  ·  Marketing Strategy  ·  Break-even Analysis  ·  Porter's Five Forces  ·  SWOT Analysis  ·  7P Marketing Mix  ·  Market Segmentation  ·  Financial Modeling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63093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team project · Istanbul University · Portfolio edition curated by Emircan Görür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2026-07-10T09:04:30Z</dcterms:created>
  <dcterms:modified xsi:type="dcterms:W3CDTF">2026-07-10T09:04:30Z</dcterms:modified>
</cp:coreProperties>
</file>